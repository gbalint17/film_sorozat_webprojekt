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70" r:id="rId5"/>
    <p:sldId id="271" r:id="rId6"/>
    <p:sldId id="265" r:id="rId7"/>
    <p:sldId id="266" r:id="rId8"/>
    <p:sldId id="268" r:id="rId9"/>
    <p:sldId id="272" r:id="rId10"/>
    <p:sldId id="269" r:id="rId11"/>
    <p:sldId id="273" r:id="rId12"/>
    <p:sldId id="274" r:id="rId13"/>
    <p:sldId id="257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C8D0"/>
    <a:srgbClr val="6D8A9C"/>
    <a:srgbClr val="BDFBFA"/>
    <a:srgbClr val="A1B4BF"/>
    <a:srgbClr val="3E5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01E30-50AD-4A3A-BC90-99FF96F12FD9}" v="676" dt="2026-10-18T16:24:01.7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370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40A2B90B44AE7EF/Streaming_Film-projekt_ppt%20(1)_Pi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Munka felosztás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A8-418D-9A9D-6CB73C15977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BA8-418D-9A9D-6CB73C15977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BA8-418D-9A9D-6CB73C1597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Bálint</c:v>
                </c:pt>
                <c:pt idx="1">
                  <c:v>Krisztina</c:v>
                </c:pt>
                <c:pt idx="2">
                  <c:v>AI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0.35</c:v>
                </c:pt>
                <c:pt idx="1">
                  <c:v>0.25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98A-4C38-9F31-250D3D142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766694-74D4-4E02-B998-7E01E041D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F59D120-9437-45C8-B6FF-FA7145027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D569EF-3579-4D0E-B1FF-AFCB5850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FE635E3-9E00-4C3D-81C1-B8165F1A4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9D104C9-ACAD-437E-A0D2-F71D22A6C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385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5A6644-D6EF-4D76-AAFF-3A686B15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1FD03F-BBD4-4CE0-8F3B-A52D7418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5127846-56C3-40D5-A7FA-6FF21C35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01EA55-7356-470A-BA03-362EE1CD6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331EF9F-FDF5-445E-B4F6-E7FC96C1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753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3BD8F9-0797-4686-85EC-ECFF53B90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B1027AD-78A9-4E2D-B7EE-46E5BC0BB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98D8A3A-2DD5-4E00-905D-DFB0DE1E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CA5E6E5-3938-4DCA-A5B1-7617AC2A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21F1F2-72AE-4B77-A225-E5F8C889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013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72EF5E-8C84-4716-B368-3D61E6A0E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A68B48-98D7-472F-9B80-D572011CB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C17CCBD-92A9-4394-BE94-D6DF49F3E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313C8C2-9F15-4E2C-BC6D-93CAB8E1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0965D1C-BE82-4E1F-98E8-E6001830A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4557110-7975-4F9F-8723-E51C9FF4C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920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D06D13-D66A-4F2F-BC51-29D0DF6BB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B654300-417B-4AD6-8AE6-70538E781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20BED0B-4478-483D-B54A-41E8A2D00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76B25DE-5934-484A-AE8E-3234793482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60DEE0C-EF94-4462-92EF-3D2B18A55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FA6F3646-BE5D-4789-B158-8C6CF753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16B55AC-1F78-48B4-8326-27289FB9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4188E51-9CB6-4C81-BACC-61DFDDBB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285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F37C0B-BE1A-458E-80C3-4F0520EA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2B77652-AF7E-4FBD-862F-8FCC4D5A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40DECBA-5133-411D-9BEE-4BA4181A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7EC2F5F-4862-4831-94A7-23AF28A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07204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054424D-E1DC-4267-A888-D8497980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B9728EA-24FB-468B-B8F4-A3CED4DD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A9C2F15-F7C7-4756-B13D-989171C9F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8973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0B89F2-E3D2-47E0-B03F-3E2533257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2BD8AC-D36C-48C1-928A-E48D8C03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F1D8242-B5CD-4B72-B005-DA79FFBF0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FE3777E-FAF2-406C-825F-7C3C5237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D125F99-6FF2-4B87-90EC-BA1E074A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E43A5DC-C827-41E8-9ED9-6B1818CB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651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E70520-FAAD-40B7-8D48-6B4FA957E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C4406DF-6E8A-46BB-B02A-F5A11171F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8B3CEDB-2483-403E-B628-5CB40E9CC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656C95E-B2C7-4A27-A49D-368B31BD7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053425-522E-481B-8969-07290F99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D07EE4E-0F1C-456E-8702-2D3AF3D6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260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AF0FFFC-7C0F-40E5-AF40-940E15F7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ED81E97-30A6-431A-9C0D-C3997E083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0FD00E-6271-4598-8BEB-A4EEE0214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8DA88DB-D311-47EC-A7C9-619137C3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40B5974-08A5-4A65-A7F3-D5F899C2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1367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3C7AAD1-16B8-4864-9256-30AFDA086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15A08AB-5418-4E96-8C54-40A67E2D3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CD63D9-BA69-4A3E-A5AF-8557AD84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9366C04-65D2-4108-81E3-073F4D04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B276F8-BC2C-4A0A-98E9-FC16FA63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728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1B4BF"/>
            </a:gs>
            <a:gs pos="63000">
              <a:srgbClr val="6D8A9C"/>
            </a:gs>
            <a:gs pos="100000">
              <a:srgbClr val="3E505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11">
            <a:extLst>
              <a:ext uri="{FF2B5EF4-FFF2-40B4-BE49-F238E27FC236}">
                <a16:creationId xmlns:a16="http://schemas.microsoft.com/office/drawing/2014/main" id="{B6A5C96D-CE9F-2D15-4BF4-6B481DC572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85000"/>
          </a:blip>
          <a:stretch>
            <a:fillRect/>
          </a:stretch>
        </p:blipFill>
        <p:spPr>
          <a:xfrm rot="17883564">
            <a:off x="5922394" y="2667361"/>
            <a:ext cx="8145012" cy="4877481"/>
          </a:xfrm>
          <a:prstGeom prst="rect">
            <a:avLst/>
          </a:prstGeom>
        </p:spPr>
      </p:pic>
      <p:sp>
        <p:nvSpPr>
          <p:cNvPr id="2" name="Cím helye 1">
            <a:extLst>
              <a:ext uri="{FF2B5EF4-FFF2-40B4-BE49-F238E27FC236}">
                <a16:creationId xmlns:a16="http://schemas.microsoft.com/office/drawing/2014/main" id="{1277629F-C30C-4523-93C9-1A9AF0EF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586EB52-7128-44BF-8E35-8C0860C96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A1C1399-3C32-4B22-81D7-1D5CC145E8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50AB9-A8AF-4A06-B3FA-337054AC655B}" type="datetimeFigureOut">
              <a:rPr lang="hu-HU" smtClean="0"/>
              <a:t>2026. 10. 18.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8F85045-4F0D-4D41-ADF4-41ABC674D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BA18DB3-9DD3-48E0-822C-D492C10F9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87D5B-565E-4675-BB03-F443FAB622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7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BDFBFA"/>
          </a:solidFill>
          <a:latin typeface="Bahnschrift" panose="020B0502040204020203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Bahnschrift" panose="020B0502040204020203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Bahnschrift" panose="020B0502040204020203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Bahnschrift" panose="020B0502040204020203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Bahnschrift" panose="020B05020402040202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500" kern="1200">
          <a:solidFill>
            <a:schemeClr val="bg1"/>
          </a:solidFill>
          <a:latin typeface="Bahnschrift" panose="020B05020402040202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10E6A6-639D-4658-903E-229F9A792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593928"/>
            <a:ext cx="9250837" cy="2387600"/>
          </a:xfrm>
        </p:spPr>
        <p:txBody>
          <a:bodyPr>
            <a:normAutofit fontScale="90000"/>
          </a:bodyPr>
          <a:lstStyle/>
          <a:p>
            <a:r>
              <a:rPr lang="hu-HU" dirty="0"/>
              <a:t>Streaming Film </a:t>
            </a:r>
            <a:br>
              <a:rPr lang="hu-HU" dirty="0"/>
            </a:br>
            <a:r>
              <a:rPr lang="hu-HU" dirty="0"/>
              <a:t>&amp; </a:t>
            </a:r>
            <a:br>
              <a:rPr lang="hu-HU" dirty="0"/>
            </a:br>
            <a:r>
              <a:rPr lang="hu-HU" dirty="0"/>
              <a:t>Sorozat Gyűjtemény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BA5ABE9-A20F-40A6-ABEB-24BD577C1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2120" y="3981528"/>
            <a:ext cx="9144000" cy="1655762"/>
          </a:xfrm>
        </p:spPr>
        <p:txBody>
          <a:bodyPr/>
          <a:lstStyle/>
          <a:p>
            <a:r>
              <a:rPr lang="hu-HU" dirty="0"/>
              <a:t>Készítette: Kalina Krisztina és Godó Bálint</a:t>
            </a:r>
          </a:p>
        </p:txBody>
      </p:sp>
    </p:spTree>
    <p:extLst>
      <p:ext uri="{BB962C8B-B14F-4D97-AF65-F5344CB8AC3E}">
        <p14:creationId xmlns:p14="http://schemas.microsoft.com/office/powerpoint/2010/main" val="237544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FAA91-0314-921F-9ECB-CE156C3B0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5178"/>
            <a:ext cx="10515600" cy="1325563"/>
          </a:xfrm>
        </p:spPr>
        <p:txBody>
          <a:bodyPr/>
          <a:lstStyle/>
          <a:p>
            <a:pPr algn="ctr"/>
            <a:r>
              <a:rPr lang="hu-HU" dirty="0"/>
              <a:t>Tartalomjegyzék</a:t>
            </a:r>
            <a:endParaRPr lang="ru-RU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83F1681-D0C5-40A8-BBA5-00D822C245FC}"/>
              </a:ext>
            </a:extLst>
          </p:cNvPr>
          <p:cNvSpPr txBox="1"/>
          <p:nvPr/>
        </p:nvSpPr>
        <p:spPr>
          <a:xfrm>
            <a:off x="3768090" y="1778001"/>
            <a:ext cx="6954944" cy="3913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0"/>
              </a:spcAft>
            </a:pPr>
            <a:r>
              <a:rPr lang="hu-HU" sz="3200" dirty="0">
                <a:solidFill>
                  <a:srgbClr val="BDFB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01. 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Feladatok elosztása</a:t>
            </a:r>
          </a:p>
          <a:p>
            <a:pPr>
              <a:spcAft>
                <a:spcPts val="3000"/>
              </a:spcAft>
            </a:pPr>
            <a:r>
              <a:rPr lang="hu-HU" sz="3200" dirty="0">
                <a:solidFill>
                  <a:srgbClr val="BDFB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02. 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Egységtesztelés</a:t>
            </a:r>
          </a:p>
          <a:p>
            <a:pPr>
              <a:spcAft>
                <a:spcPts val="3000"/>
              </a:spcAft>
            </a:pPr>
            <a:r>
              <a:rPr lang="hu-HU" sz="3200" dirty="0">
                <a:solidFill>
                  <a:srgbClr val="BDFB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03. 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Felhasznált eszközök</a:t>
            </a:r>
          </a:p>
          <a:p>
            <a:pPr>
              <a:spcAft>
                <a:spcPts val="3000"/>
              </a:spcAft>
            </a:pPr>
            <a:r>
              <a:rPr lang="hu-HU" sz="3200" dirty="0">
                <a:solidFill>
                  <a:srgbClr val="BDFB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04. </a:t>
            </a:r>
            <a:r>
              <a:rPr lang="hu-HU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Tapasztalatok </a:t>
            </a:r>
          </a:p>
          <a:p>
            <a:r>
              <a:rPr lang="hu-HU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cxnSp>
        <p:nvCxnSpPr>
          <p:cNvPr id="24" name="Egyenes összekötő 23">
            <a:extLst>
              <a:ext uri="{FF2B5EF4-FFF2-40B4-BE49-F238E27FC236}">
                <a16:creationId xmlns:a16="http://schemas.microsoft.com/office/drawing/2014/main" id="{1DE7F7C4-73E3-4E6C-8873-581DC91FA98D}"/>
              </a:ext>
            </a:extLst>
          </p:cNvPr>
          <p:cNvCxnSpPr>
            <a:cxnSpLocks/>
          </p:cNvCxnSpPr>
          <p:nvPr/>
        </p:nvCxnSpPr>
        <p:spPr>
          <a:xfrm>
            <a:off x="3768090" y="2514600"/>
            <a:ext cx="4768850" cy="0"/>
          </a:xfrm>
          <a:prstGeom prst="line">
            <a:avLst/>
          </a:prstGeom>
          <a:ln w="28575">
            <a:solidFill>
              <a:srgbClr val="BDFB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28">
            <a:extLst>
              <a:ext uri="{FF2B5EF4-FFF2-40B4-BE49-F238E27FC236}">
                <a16:creationId xmlns:a16="http://schemas.microsoft.com/office/drawing/2014/main" id="{47025A21-F24E-4271-A98B-CEF1AE0D240E}"/>
              </a:ext>
            </a:extLst>
          </p:cNvPr>
          <p:cNvCxnSpPr>
            <a:cxnSpLocks/>
          </p:cNvCxnSpPr>
          <p:nvPr/>
        </p:nvCxnSpPr>
        <p:spPr>
          <a:xfrm>
            <a:off x="3768090" y="3424236"/>
            <a:ext cx="4768850" cy="0"/>
          </a:xfrm>
          <a:prstGeom prst="line">
            <a:avLst/>
          </a:prstGeom>
          <a:ln w="28575">
            <a:solidFill>
              <a:srgbClr val="BDFB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gyenes összekötő 29">
            <a:extLst>
              <a:ext uri="{FF2B5EF4-FFF2-40B4-BE49-F238E27FC236}">
                <a16:creationId xmlns:a16="http://schemas.microsoft.com/office/drawing/2014/main" id="{5B03F961-24B6-4840-9C01-884CDCCEC989}"/>
              </a:ext>
            </a:extLst>
          </p:cNvPr>
          <p:cNvCxnSpPr>
            <a:cxnSpLocks/>
          </p:cNvCxnSpPr>
          <p:nvPr/>
        </p:nvCxnSpPr>
        <p:spPr>
          <a:xfrm>
            <a:off x="3768090" y="4405310"/>
            <a:ext cx="4787265" cy="0"/>
          </a:xfrm>
          <a:prstGeom prst="line">
            <a:avLst/>
          </a:prstGeom>
          <a:ln w="28575">
            <a:solidFill>
              <a:srgbClr val="BDFB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43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6F6C72-4AC5-4D63-B63E-D6E93ABB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dirty="0"/>
              <a:t>01. Feladatok elosztása</a:t>
            </a:r>
          </a:p>
        </p:txBody>
      </p:sp>
    </p:spTree>
    <p:extLst>
      <p:ext uri="{BB962C8B-B14F-4D97-AF65-F5344CB8AC3E}">
        <p14:creationId xmlns:p14="http://schemas.microsoft.com/office/powerpoint/2010/main" val="194044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0C986-A1E7-3B32-EDAA-F29972775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609" y="-342900"/>
            <a:ext cx="3932237" cy="1600200"/>
          </a:xfrm>
        </p:spPr>
        <p:txBody>
          <a:bodyPr/>
          <a:lstStyle/>
          <a:p>
            <a:pPr algn="ctr"/>
            <a:r>
              <a:rPr lang="hu-HU" dirty="0"/>
              <a:t>Krisztina: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BCAC51-C753-A815-4723-3988D89CA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609" y="1600200"/>
            <a:ext cx="4885422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just">
              <a:buBlip>
                <a:blip r:embed="rId2"/>
              </a:buBlip>
            </a:pPr>
            <a:r>
              <a:rPr lang="hu-HU" dirty="0"/>
              <a:t>Logó elkészítése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/>
              <a:t>Film osztály egységtesztelése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Sorozatok osztály létrehozása</a:t>
            </a:r>
            <a:endParaRPr lang="hu-HU" dirty="0"/>
          </a:p>
          <a:p>
            <a:pPr marL="285750" indent="-285750" algn="just">
              <a:buBlip>
                <a:blip r:embed="rId2"/>
              </a:buBlip>
            </a:pPr>
            <a:r>
              <a:rPr lang="hu-HU" dirty="0"/>
              <a:t>Törlés gomb és működése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solidFill>
                  <a:srgbClr val="FF0000"/>
                </a:solidFill>
                <a:latin typeface="Bahnschrift"/>
                <a:cs typeface="Arial"/>
              </a:rPr>
              <a:t>Szűrés a navbár gombjaival és szűrés gomb müködése (AI használva)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Hozzáadás modal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Szerkesztés modal</a:t>
            </a:r>
            <a:endParaRPr lang="hu-HU" dirty="0"/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Törlés modal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Modal Input ellenőrzések</a:t>
            </a:r>
          </a:p>
          <a:p>
            <a:pPr marL="285750" indent="-285750" algn="just">
              <a:buBlip>
                <a:blip r:embed="rId2"/>
              </a:buBlip>
            </a:pP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98C2C8F-4A1F-4199-889A-103C418D3026}"/>
              </a:ext>
            </a:extLst>
          </p:cNvPr>
          <p:cNvSpPr txBox="1">
            <a:spLocks/>
          </p:cNvSpPr>
          <p:nvPr/>
        </p:nvSpPr>
        <p:spPr>
          <a:xfrm>
            <a:off x="6096000" y="-342900"/>
            <a:ext cx="3932237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BDFBFA"/>
                </a:solidFill>
                <a:latin typeface="Bahnschrift" panose="020B0502040204020203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hu-HU" dirty="0"/>
              <a:t>Bálint: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9F56A3B6-F5AC-5A09-BA73-A70A9F082173}"/>
              </a:ext>
            </a:extLst>
          </p:cNvPr>
          <p:cNvSpPr txBox="1">
            <a:spLocks/>
          </p:cNvSpPr>
          <p:nvPr/>
        </p:nvSpPr>
        <p:spPr>
          <a:xfrm>
            <a:off x="6096000" y="1597689"/>
            <a:ext cx="4885422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HTML alapszerkezet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Könyvtár = státusz alapján történő szűrés</a:t>
            </a:r>
            <a:endParaRPr lang="hu-HU" dirty="0"/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solidFill>
                  <a:srgbClr val="FFFFFF"/>
                </a:solidFill>
                <a:latin typeface="Bahnschrift"/>
                <a:cs typeface="Arial"/>
              </a:rPr>
              <a:t>Film osztály létrehozása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solidFill>
                  <a:srgbClr val="FF0000"/>
                </a:solidFill>
                <a:latin typeface="Bahnschrift"/>
                <a:cs typeface="Arial"/>
              </a:rPr>
              <a:t>Műfaj alapján történő szűrés (AI Használva)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Hozzáadás modal müködése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Szerkesztés modal müködése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Sorozat osztály egységtesztelése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solidFill>
                  <a:srgbClr val="FF0000"/>
                </a:solidFill>
                <a:latin typeface="Bahnschrift"/>
                <a:cs typeface="Arial"/>
              </a:rPr>
              <a:t>Kártyák kinézete és megjelenése (AI Használva)</a:t>
            </a:r>
          </a:p>
          <a:p>
            <a:pPr marL="285750" indent="-285750" algn="just">
              <a:buBlip>
                <a:blip r:embed="rId2"/>
              </a:buBlip>
            </a:pPr>
            <a:r>
              <a:rPr lang="hu-HU" dirty="0">
                <a:solidFill>
                  <a:srgbClr val="FF0000"/>
                </a:solidFill>
                <a:latin typeface="Bahnschrift"/>
                <a:cs typeface="Arial"/>
              </a:rPr>
              <a:t>Kártyák helyes megjelenése szűrés, törlés, szerkesztés során (AI Használva)</a:t>
            </a:r>
            <a:endParaRPr lang="hu-HU" dirty="0">
              <a:solidFill>
                <a:srgbClr val="000000"/>
              </a:solidFill>
              <a:latin typeface="Bahnschrift"/>
              <a:cs typeface="Arial"/>
            </a:endParaRPr>
          </a:p>
          <a:p>
            <a:pPr marL="285750" indent="-285750" algn="just">
              <a:buBlip>
                <a:blip r:embed="rId2"/>
              </a:buBlip>
            </a:pPr>
            <a:endParaRPr lang="hu-HU" dirty="0">
              <a:solidFill>
                <a:srgbClr val="FF0000"/>
              </a:solidFill>
              <a:latin typeface="Bahnschrif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765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2B2A5D-71A1-5AC5-CC33-B2E360AE9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418"/>
            <a:ext cx="10515600" cy="1325563"/>
          </a:xfrm>
        </p:spPr>
        <p:txBody>
          <a:bodyPr/>
          <a:lstStyle/>
          <a:p>
            <a:r>
              <a:rPr lang="hu-HU" dirty="0"/>
              <a:t>Kördiagramm</a:t>
            </a:r>
            <a:endParaRPr lang="ru-RU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FA6D832-F18F-AB7D-87CC-0C4F20D1E2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62552"/>
              </p:ext>
            </p:extLst>
          </p:nvPr>
        </p:nvGraphicFramePr>
        <p:xfrm>
          <a:off x="2521415" y="1045968"/>
          <a:ext cx="7155365" cy="4766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267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0EA7B-D9D3-F4CB-D4D7-09A78A52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hu-HU" dirty="0"/>
              <a:t>02. Egységtesztelés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5247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36CDD-63A2-F515-647B-0416B54AE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894"/>
            <a:ext cx="10515600" cy="1325563"/>
          </a:xfrm>
        </p:spPr>
        <p:txBody>
          <a:bodyPr/>
          <a:lstStyle/>
          <a:p>
            <a:r>
              <a:rPr lang="hu-HU" dirty="0"/>
              <a:t>Film oszály tesztelése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D53AF-9159-81E6-4FA7-4921DB580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457"/>
            <a:ext cx="10848474" cy="11327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Blip>
                <a:blip r:embed="rId2"/>
              </a:buBlip>
            </a:pPr>
            <a:r>
              <a:rPr lang="hu-HU" dirty="0"/>
              <a:t>A szetHossz() metódusból hiányzott az else ág, ez által a metódus engedte beállítani az egynél kisebb értéket. Más hibát nem tapasztaltam. </a:t>
            </a: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3310C18-EFB9-9922-EBA4-113D2ADF788F}"/>
              </a:ext>
            </a:extLst>
          </p:cNvPr>
          <p:cNvSpPr txBox="1">
            <a:spLocks/>
          </p:cNvSpPr>
          <p:nvPr/>
        </p:nvSpPr>
        <p:spPr>
          <a:xfrm>
            <a:off x="838200" y="23944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>
                <a:solidFill>
                  <a:srgbClr val="BDFBFA"/>
                </a:solidFill>
                <a:latin typeface="Bahnschrift" panose="020B0502040204020203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hu-HU" dirty="0"/>
              <a:t>Sorozatok osztály ellenőrzése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3B82302-5484-54A4-A138-9CB183E83EB6}"/>
              </a:ext>
            </a:extLst>
          </p:cNvPr>
          <p:cNvSpPr txBox="1">
            <a:spLocks/>
          </p:cNvSpPr>
          <p:nvPr/>
        </p:nvSpPr>
        <p:spPr>
          <a:xfrm>
            <a:off x="838200" y="3720015"/>
            <a:ext cx="10848474" cy="1132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7AD14EE-0871-30F3-858B-23604B7CF214}"/>
              </a:ext>
            </a:extLst>
          </p:cNvPr>
          <p:cNvSpPr txBox="1">
            <a:spLocks/>
          </p:cNvSpPr>
          <p:nvPr/>
        </p:nvSpPr>
        <p:spPr>
          <a:xfrm>
            <a:off x="835722" y="3718711"/>
            <a:ext cx="10848474" cy="11327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bg1"/>
                </a:solidFill>
                <a:latin typeface="Bahnschrift" panose="020B0502040204020203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A setKep() metódusnak nem volt megadva ellenőrzés, más hibát nem találtam.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5706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1ABB0-5A96-552A-2797-8762ECA1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03. Felhasznált eszközök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9601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25E3AB-CB3C-CFB6-F6B9-8BAAB54D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Bahnschrift"/>
                <a:cs typeface="Arial"/>
              </a:rPr>
              <a:t>Felhasznált eszközök: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9C6639-B46E-0B4E-19F1-263DBE078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>
              <a:spcAft>
                <a:spcPts val="2400"/>
              </a:spcAft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Frontend keretrendszer: Bootstrap 5.3v</a:t>
            </a:r>
            <a:endParaRPr lang="hu-HU" dirty="0"/>
          </a:p>
          <a:p>
            <a:pPr algn="just">
              <a:spcAft>
                <a:spcPts val="2400"/>
              </a:spcAft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Ai: ChatGPT 5.6 Sol</a:t>
            </a:r>
          </a:p>
          <a:p>
            <a:pPr algn="just">
              <a:spcAft>
                <a:spcPts val="2400"/>
              </a:spcAft>
              <a:buBlip>
                <a:blip r:embed="rId2"/>
              </a:buBlip>
            </a:pPr>
            <a:r>
              <a:rPr lang="hu-HU" dirty="0">
                <a:latin typeface="Bahnschrift"/>
                <a:cs typeface="Arial"/>
              </a:rPr>
              <a:t>Egyéb: Korábbi órai munkák</a:t>
            </a:r>
            <a:endParaRPr lang="ru-RU" dirty="0">
              <a:latin typeface="Bahnschrift"/>
              <a:cs typeface="Arial"/>
            </a:endParaRPr>
          </a:p>
        </p:txBody>
      </p:sp>
      <p:pic>
        <p:nvPicPr>
          <p:cNvPr id="4" name="Picture 3" descr="File:ChatGPT-Logo.png - Wikimedia Commons">
            <a:extLst>
              <a:ext uri="{FF2B5EF4-FFF2-40B4-BE49-F238E27FC236}">
                <a16:creationId xmlns:a16="http://schemas.microsoft.com/office/drawing/2014/main" id="{6D9A4D91-4402-EF0A-E0C6-B45B55149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770" y="2511633"/>
            <a:ext cx="972635" cy="545172"/>
          </a:xfrm>
          <a:prstGeom prst="rect">
            <a:avLst/>
          </a:prstGeom>
        </p:spPr>
      </p:pic>
      <p:pic>
        <p:nvPicPr>
          <p:cNvPr id="5" name="Picture 4" descr="Bootstrap 5 Logo PNG Vector (SVG) Free Download">
            <a:extLst>
              <a:ext uri="{FF2B5EF4-FFF2-40B4-BE49-F238E27FC236}">
                <a16:creationId xmlns:a16="http://schemas.microsoft.com/office/drawing/2014/main" id="{25755D6E-8474-8DCE-5E5C-EB2B1B526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830" y="1766164"/>
            <a:ext cx="643054" cy="63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1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259E2-7FE3-6710-B55C-ED0A8956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04.Tapasztalatok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2724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174EC-E283-E852-A421-3F5D64798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Krisztina tapasztalat: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13C15A-4BA4-E8E8-F637-DA3CC67B6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542" y="1833646"/>
            <a:ext cx="1101691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hu-HU" dirty="0">
                <a:latin typeface="Bahnschrift"/>
                <a:cs typeface="Arial"/>
              </a:rPr>
              <a:t>A feladatot érdekesnek és kissé nehéznek is találtam, de örömmel dolgoztam rajta. Elvégzése során új dolgokat tanultam, mint például egy drótváz elkészítését vagy bootstrap toast beillesztése a kódba.</a:t>
            </a:r>
          </a:p>
          <a:p>
            <a:pPr marL="0" indent="0" algn="just">
              <a:buNone/>
            </a:pPr>
            <a:r>
              <a:rPr lang="hu-HU" dirty="0"/>
              <a:t>A közös munka során levontam néhány tanulságot. Rájöttem, mennyire fontos a feladatok részletes átbeszélése, valamint a rész feladatok pontos leírása.</a:t>
            </a:r>
          </a:p>
          <a:p>
            <a:pPr marL="0" indent="0" algn="just">
              <a:buNone/>
            </a:pPr>
            <a:r>
              <a:rPr lang="hu-HU" dirty="0">
                <a:latin typeface="Bahnschrift"/>
                <a:cs typeface="Arial"/>
              </a:rPr>
              <a:t>Bálint segítőkész és türelmes volt, ezért szívesen dolgoztam vele.</a:t>
            </a:r>
          </a:p>
          <a:p>
            <a:pPr marL="0" indent="0" algn="just">
              <a:buNone/>
            </a:pPr>
            <a:r>
              <a:rPr lang="hu-HU" dirty="0">
                <a:latin typeface="Bahnschrift"/>
                <a:cs typeface="Arial"/>
              </a:rPr>
              <a:t>Összegezve a közös feladat pozitív élményt jelentett számomra.</a:t>
            </a:r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9604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8521-F3B5-A409-2289-164D27C9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Bahnschrift"/>
                <a:cs typeface="Arial"/>
              </a:rPr>
              <a:t>Bálint </a:t>
            </a:r>
            <a:r>
              <a:rPr lang="en-GB" dirty="0" err="1">
                <a:latin typeface="Bahnschrift"/>
                <a:cs typeface="Arial"/>
              </a:rPr>
              <a:t>tapasztalat</a:t>
            </a:r>
            <a:r>
              <a:rPr lang="en-GB" dirty="0">
                <a:latin typeface="Bahnschrift"/>
                <a:cs typeface="Arial"/>
              </a:rPr>
              <a:t>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DC51C-058B-234A-5714-9F06BAA41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GB" dirty="0">
                <a:latin typeface="Bahnschrift"/>
                <a:cs typeface="Arial"/>
              </a:rPr>
              <a:t>A </a:t>
            </a:r>
            <a:r>
              <a:rPr lang="en-GB" dirty="0" err="1">
                <a:latin typeface="Bahnschrift"/>
                <a:cs typeface="Arial"/>
              </a:rPr>
              <a:t>feladatot</a:t>
            </a:r>
            <a:r>
              <a:rPr lang="en-GB" dirty="0">
                <a:latin typeface="Bahnschrift"/>
                <a:cs typeface="Arial"/>
              </a:rPr>
              <a:t> </a:t>
            </a:r>
            <a:r>
              <a:rPr lang="en-GB" dirty="0" err="1">
                <a:latin typeface="Bahnschrift"/>
                <a:cs typeface="Arial"/>
              </a:rPr>
              <a:t>kisebb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nagyobb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részekben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megoldhatónak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találtam</a:t>
            </a:r>
            <a:r>
              <a:rPr lang="en-GB" dirty="0">
                <a:latin typeface="Bahnschrift"/>
                <a:cs typeface="Arial"/>
              </a:rPr>
              <a:t>.</a:t>
            </a:r>
            <a:br>
              <a:rPr lang="en-GB" dirty="0">
                <a:latin typeface="Bahnschrift"/>
                <a:cs typeface="Arial"/>
              </a:rPr>
            </a:br>
            <a:r>
              <a:rPr lang="en-GB" dirty="0" err="1">
                <a:latin typeface="Bahnschrift"/>
                <a:cs typeface="Arial"/>
              </a:rPr>
              <a:t>Nyilván</a:t>
            </a:r>
            <a:r>
              <a:rPr lang="en-GB" dirty="0">
                <a:latin typeface="Bahnschrift"/>
                <a:cs typeface="Arial"/>
              </a:rPr>
              <a:t> mind </a:t>
            </a:r>
            <a:r>
              <a:rPr lang="en-GB" dirty="0" err="1">
                <a:latin typeface="Bahnschrift"/>
                <a:cs typeface="Arial"/>
              </a:rPr>
              <a:t>ez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szokatlan</a:t>
            </a:r>
            <a:r>
              <a:rPr lang="en-GB" dirty="0">
                <a:latin typeface="Bahnschrift"/>
                <a:cs typeface="Arial"/>
              </a:rPr>
              <a:t> volt </a:t>
            </a:r>
            <a:r>
              <a:rPr lang="en-GB" dirty="0" err="1">
                <a:latin typeface="Bahnschrift"/>
                <a:cs typeface="Arial"/>
              </a:rPr>
              <a:t>hogy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mással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kellett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együtt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dolgozni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egy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ilyen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szintű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projekten</a:t>
            </a:r>
            <a:r>
              <a:rPr lang="en-GB" dirty="0">
                <a:latin typeface="Bahnschrift"/>
                <a:cs typeface="Arial"/>
              </a:rPr>
              <a:t> de </a:t>
            </a:r>
            <a:r>
              <a:rPr lang="en-GB" dirty="0" err="1">
                <a:latin typeface="Bahnschrift"/>
                <a:cs typeface="Arial"/>
              </a:rPr>
              <a:t>megoldottuk</a:t>
            </a:r>
            <a:r>
              <a:rPr lang="en-GB" dirty="0">
                <a:latin typeface="Bahnschrift"/>
                <a:cs typeface="Arial"/>
              </a:rPr>
              <a:t>.</a:t>
            </a:r>
            <a:endParaRPr lang="en-GB" dirty="0" err="1"/>
          </a:p>
          <a:p>
            <a:pPr marL="0" indent="0" algn="just">
              <a:buNone/>
            </a:pPr>
            <a:r>
              <a:rPr lang="en-GB" dirty="0">
                <a:latin typeface="Bahnschrift"/>
                <a:cs typeface="Arial"/>
              </a:rPr>
              <a:t>A </a:t>
            </a:r>
            <a:r>
              <a:rPr lang="en-GB" dirty="0" err="1">
                <a:latin typeface="Bahnschrift"/>
                <a:cs typeface="Arial"/>
              </a:rPr>
              <a:t>közös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munka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kicsit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döcögös</a:t>
            </a:r>
            <a:r>
              <a:rPr lang="en-GB" dirty="0">
                <a:latin typeface="Bahnschrift"/>
                <a:cs typeface="Arial"/>
              </a:rPr>
              <a:t> volt </a:t>
            </a:r>
            <a:r>
              <a:rPr lang="en-GB" dirty="0" err="1">
                <a:latin typeface="Bahnschrift"/>
                <a:cs typeface="Arial"/>
              </a:rPr>
              <a:t>mivel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sok</a:t>
            </a:r>
            <a:r>
              <a:rPr lang="en-GB" dirty="0">
                <a:latin typeface="Bahnschrift"/>
                <a:cs typeface="Arial"/>
              </a:rPr>
              <a:t> </a:t>
            </a:r>
            <a:r>
              <a:rPr lang="en-GB" dirty="0" err="1">
                <a:latin typeface="Bahnschrift"/>
                <a:cs typeface="Arial"/>
              </a:rPr>
              <a:t>olyan</a:t>
            </a:r>
            <a:r>
              <a:rPr lang="en-GB" dirty="0">
                <a:latin typeface="Bahnschrift"/>
                <a:cs typeface="Arial"/>
              </a:rPr>
              <a:t> </a:t>
            </a:r>
            <a:r>
              <a:rPr lang="en-GB" dirty="0" err="1">
                <a:latin typeface="Bahnschrift"/>
                <a:cs typeface="Arial"/>
              </a:rPr>
              <a:t>eset</a:t>
            </a:r>
            <a:r>
              <a:rPr lang="en-GB" dirty="0">
                <a:latin typeface="Bahnschrift"/>
                <a:cs typeface="Arial"/>
              </a:rPr>
              <a:t> volt </a:t>
            </a:r>
            <a:r>
              <a:rPr lang="en-GB" dirty="0" err="1">
                <a:latin typeface="Bahnschrift"/>
                <a:cs typeface="Arial"/>
              </a:rPr>
              <a:t>hogy</a:t>
            </a:r>
            <a:r>
              <a:rPr lang="en-GB" dirty="0">
                <a:latin typeface="Bahnschrift"/>
                <a:cs typeface="Arial"/>
              </a:rPr>
              <a:t> nem </a:t>
            </a:r>
            <a:r>
              <a:rPr lang="en-GB" dirty="0" err="1">
                <a:latin typeface="Bahnschrift"/>
                <a:cs typeface="Arial"/>
              </a:rPr>
              <a:t>értettünk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egyet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valamilyen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döntésen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és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sokat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kellett</a:t>
            </a:r>
            <a:r>
              <a:rPr lang="en-GB" dirty="0">
                <a:latin typeface="Bahnschrift"/>
                <a:cs typeface="Arial"/>
              </a:rPr>
              <a:t> a </a:t>
            </a:r>
            <a:r>
              <a:rPr lang="en-GB" dirty="0" err="1">
                <a:latin typeface="Bahnschrift"/>
                <a:cs typeface="Arial"/>
              </a:rPr>
              <a:t>kódon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változtatni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és</a:t>
            </a:r>
            <a:r>
              <a:rPr lang="en-GB" dirty="0">
                <a:latin typeface="Bahnschrift"/>
                <a:cs typeface="Arial"/>
              </a:rPr>
              <a:t> a </a:t>
            </a:r>
            <a:r>
              <a:rPr lang="en-GB" dirty="0" err="1">
                <a:latin typeface="Bahnschrift"/>
                <a:cs typeface="Arial"/>
              </a:rPr>
              <a:t>végleges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müködést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átgondolni</a:t>
            </a:r>
            <a:r>
              <a:rPr lang="en-GB" dirty="0">
                <a:latin typeface="Bahnschrift"/>
                <a:cs typeface="Arial"/>
              </a:rPr>
              <a:t>.</a:t>
            </a:r>
          </a:p>
          <a:p>
            <a:pPr marL="0" indent="0" algn="just">
              <a:buNone/>
            </a:pPr>
            <a:r>
              <a:rPr lang="en-GB" dirty="0">
                <a:latin typeface="Bahnschrift"/>
                <a:cs typeface="Arial"/>
              </a:rPr>
              <a:t>Krisztina </a:t>
            </a:r>
            <a:r>
              <a:rPr lang="en-GB" dirty="0" err="1">
                <a:latin typeface="Bahnschrift"/>
                <a:cs typeface="Arial"/>
              </a:rPr>
              <a:t>türelmes</a:t>
            </a:r>
            <a:r>
              <a:rPr lang="en-GB" dirty="0">
                <a:latin typeface="Bahnschrift"/>
                <a:cs typeface="Arial"/>
              </a:rPr>
              <a:t> volt </a:t>
            </a:r>
            <a:r>
              <a:rPr lang="en-GB" dirty="0" err="1">
                <a:latin typeface="Bahnschrift"/>
                <a:cs typeface="Arial"/>
              </a:rPr>
              <a:t>okoskodásaimmal</a:t>
            </a:r>
            <a:r>
              <a:rPr lang="en-GB" dirty="0">
                <a:latin typeface="Bahnschrift"/>
                <a:cs typeface="Arial"/>
              </a:rPr>
              <a:t> </a:t>
            </a:r>
            <a:r>
              <a:rPr lang="en-GB" dirty="0" err="1">
                <a:latin typeface="Bahnschrift"/>
                <a:cs typeface="Arial"/>
              </a:rPr>
              <a:t>szemben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és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elvégezte</a:t>
            </a:r>
            <a:r>
              <a:rPr lang="en-GB" dirty="0">
                <a:latin typeface="Bahnschrift"/>
                <a:cs typeface="Arial"/>
              </a:rPr>
              <a:t> a </a:t>
            </a:r>
            <a:r>
              <a:rPr lang="en-GB" dirty="0" err="1">
                <a:latin typeface="Bahnschrift"/>
                <a:cs typeface="Arial"/>
              </a:rPr>
              <a:t>hozzá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szabott</a:t>
            </a:r>
            <a:r>
              <a:rPr lang="en-GB" dirty="0">
                <a:latin typeface="Bahnschrift"/>
                <a:cs typeface="Arial"/>
              </a:rPr>
              <a:t> </a:t>
            </a:r>
            <a:r>
              <a:rPr lang="en-GB" dirty="0" err="1">
                <a:latin typeface="Bahnschrift"/>
                <a:cs typeface="Arial"/>
              </a:rPr>
              <a:t>munkákat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időben</a:t>
            </a:r>
            <a:r>
              <a:rPr lang="en-GB" dirty="0">
                <a:latin typeface="Bahnschrift"/>
                <a:cs typeface="Arial"/>
              </a:rPr>
              <a:t>.</a:t>
            </a:r>
          </a:p>
          <a:p>
            <a:pPr marL="0" indent="0" algn="just">
              <a:buNone/>
            </a:pPr>
            <a:r>
              <a:rPr lang="en-GB" dirty="0" err="1">
                <a:latin typeface="Bahnschrift"/>
                <a:cs typeface="Arial"/>
              </a:rPr>
              <a:t>Összegezve</a:t>
            </a:r>
            <a:r>
              <a:rPr lang="en-GB" dirty="0">
                <a:latin typeface="Bahnschrift"/>
                <a:cs typeface="Arial"/>
              </a:rPr>
              <a:t> </a:t>
            </a:r>
            <a:r>
              <a:rPr lang="en-GB" dirty="0" err="1">
                <a:latin typeface="Bahnschrift"/>
                <a:cs typeface="Arial"/>
              </a:rPr>
              <a:t>jó</a:t>
            </a:r>
            <a:r>
              <a:rPr lang="en-GB" dirty="0">
                <a:latin typeface="Bahnschrift"/>
                <a:cs typeface="Arial"/>
              </a:rPr>
              <a:t> </a:t>
            </a:r>
            <a:r>
              <a:rPr lang="en-GB" dirty="0" err="1">
                <a:latin typeface="Bahnschrift"/>
                <a:cs typeface="Arial"/>
              </a:rPr>
              <a:t>élmény</a:t>
            </a:r>
            <a:r>
              <a:rPr lang="en-GB" dirty="0">
                <a:latin typeface="Bahnschrift"/>
                <a:cs typeface="Arial"/>
              </a:rPr>
              <a:t> volt </a:t>
            </a:r>
            <a:r>
              <a:rPr lang="en-GB" dirty="0" err="1">
                <a:latin typeface="Bahnschrift"/>
                <a:cs typeface="Arial"/>
              </a:rPr>
              <a:t>ez</a:t>
            </a:r>
            <a:r>
              <a:rPr lang="en-GB" dirty="0">
                <a:latin typeface="Bahnschrift"/>
                <a:cs typeface="Arial"/>
              </a:rPr>
              <a:t> a </a:t>
            </a:r>
            <a:r>
              <a:rPr lang="en-GB" dirty="0" err="1">
                <a:latin typeface="Bahnschrift"/>
                <a:cs typeface="Arial"/>
              </a:rPr>
              <a:t>proj</a:t>
            </a:r>
            <a:r>
              <a:rPr lang="en-GB" dirty="0">
                <a:latin typeface="Bahnschrift"/>
                <a:cs typeface="Arial"/>
              </a:rPr>
              <a:t>ekt.</a:t>
            </a:r>
          </a:p>
          <a:p>
            <a:pPr marL="0" indent="0" algn="just">
              <a:buNone/>
            </a:pPr>
            <a:endParaRPr lang="en-GB" dirty="0">
              <a:latin typeface="Bahnschrif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8258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91597C-B8F8-46DD-9B8A-C730BAA103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a figyelmet!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610FFAB-20B9-4D15-BFFB-5195E1CAB7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7883564">
            <a:off x="5922394" y="2667361"/>
            <a:ext cx="8145012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7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356</Words>
  <Application>Microsoft Office PowerPoint</Application>
  <PresentationFormat>Широкоэкранный</PresentationFormat>
  <Paragraphs>52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Bahnschrift</vt:lpstr>
      <vt:lpstr>Calibri</vt:lpstr>
      <vt:lpstr>Office-téma</vt:lpstr>
      <vt:lpstr>Streaming Film  &amp;  Sorozat Gyűjtemény</vt:lpstr>
      <vt:lpstr>Tartalomjegyzék</vt:lpstr>
      <vt:lpstr>01. Feladatok elosztása</vt:lpstr>
      <vt:lpstr>Krisztina:</vt:lpstr>
      <vt:lpstr>Kördiagramm</vt:lpstr>
      <vt:lpstr>02. Egységtesztelés</vt:lpstr>
      <vt:lpstr>Film oszály tesztelése</vt:lpstr>
      <vt:lpstr>03. Felhasznált eszközök</vt:lpstr>
      <vt:lpstr>Felhasznált eszközök:</vt:lpstr>
      <vt:lpstr>04.Tapasztalatok</vt:lpstr>
      <vt:lpstr>Krisztina tapasztalat:</vt:lpstr>
      <vt:lpstr>Bálint tapasztalat: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Film  &amp;  Sorozat Gyűjtemény</dc:title>
  <dc:creator>Kalina Krisztina</dc:creator>
  <cp:lastModifiedBy>Kris Kalina</cp:lastModifiedBy>
  <cp:revision>163</cp:revision>
  <dcterms:created xsi:type="dcterms:W3CDTF">2026-10-09T07:37:39Z</dcterms:created>
  <dcterms:modified xsi:type="dcterms:W3CDTF">2026-10-18T16:44:56Z</dcterms:modified>
</cp:coreProperties>
</file>